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Рекомендательные системы
последовательного 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на датасете MovieLens-20M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Учебный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49A00"/>
                </a:solidFill>
                <a:latin typeface="Calibri"/>
              </a:rPr>
              <a:t>Главный результат: NDCG@10 = 0.2027  (ансамбль)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Calibri"/>
              </a:rPr>
              <a:t>1.  Постановка задачи и данные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2.  Метрики качества (HR, NDCG, MRR)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3.  Базовая концепция: механизм внимания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4.  Модели — по слайду на каждую: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     SASRec baseline → flagship → StackRec → Linear Attn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     NextItNet → FMLP → FNet Hybrid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     Causal FFT-Conv (наша новая) → Ensemble (наш headline)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5.  Эксперименты с тренировочным стеком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6.  Финальные результаты + графики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7.  Три академические находки</a:t>
            </a:r>
          </a:p>
          <a:p>
            <a:pPr/>
            <a:r>
              <a:rPr sz="2000" b="0" i="0">
                <a:solidFill>
                  <a:srgbClr val="000000"/>
                </a:solidFill>
                <a:latin typeface="Calibri"/>
              </a:rPr>
              <a:t>8.  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Постановка задачи: последовательная рекомендация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Calibri"/>
              </a:rPr>
              <a:t>Пользователь Netflix посмотрел подряд: «Матрица» → «Тёмный рыцарь» → «Начало». Задача — предсказать какой фильм он посмотрит СЛЕДУЮЩИМ.</a:t>
            </a:r>
          </a:p>
          <a:p>
            <a:pPr/>
            <a:r>
              <a:rPr sz="10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700" b="0" i="1">
                <a:solidFill>
                  <a:srgbClr val="555555"/>
                </a:solidFill>
                <a:latin typeface="Calibri"/>
              </a:rPr>
              <a:t>Это не «что нравится в среднем», а «следующий шаг» — вкусы меняются во времени</a:t>
            </a:r>
          </a:p>
          <a:p>
            <a:pPr/>
            <a:r>
              <a:rPr sz="1700" b="0" i="0">
                <a:solidFill>
                  <a:srgbClr val="000000"/>
                </a:solidFill>
                <a:latin typeface="Calibri"/>
              </a:rPr>
              <a:t>Из 18 345 фильмов каталога надо выбрать 10 наиболее вероятных</a:t>
            </a:r>
          </a:p>
          <a:p>
            <a:pPr/>
            <a:r>
              <a:rPr sz="1700" b="0" i="0">
                <a:solidFill>
                  <a:srgbClr val="000000"/>
                </a:solidFill>
                <a:latin typeface="Calibri"/>
              </a:rPr>
              <a:t>Истории длинные — у некоторых &gt;1000 фильмов; берём последние 200 как контекст</a:t>
            </a:r>
          </a:p>
          <a:p>
            <a:pPr/>
            <a:r>
              <a:rPr sz="1700" b="0" i="1">
                <a:solidFill>
                  <a:srgbClr val="555555"/>
                </a:solidFill>
                <a:latin typeface="Calibri"/>
              </a:rPr>
              <a:t>Основа бизнеса всех стриминговых сервисов: Netflix, YouTube, Spotify, TikTok</a:t>
            </a:r>
          </a:p>
          <a:p>
            <a:pPr/>
            <a:r>
              <a:rPr sz="10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900" b="1" i="0">
                <a:solidFill>
                  <a:srgbClr val="2CA02C"/>
                </a:solidFill>
                <a:latin typeface="Calibri"/>
              </a:rPr>
              <a:t>Цель проекта: побить anchor конкурирующей команды NDCG@10 = 0.187 (V1adls1aV)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Данные: MovieLens-20M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Calibri"/>
              </a:rPr>
              <a:t>Публичный академический бенчмарк (GroupLens, Университет Миннесоты)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20 миллионов оценок (1995-2015) от 138 493 пользователей по 27 278 фильмам</a:t>
            </a:r>
          </a:p>
          <a:p>
            <a:pPr/>
            <a:r>
              <a:rPr sz="1600" b="0" i="1">
                <a:solidFill>
                  <a:srgbClr val="555555"/>
                </a:solidFill>
                <a:latin typeface="Calibri"/>
              </a:rPr>
              <a:t>Стандартный бенчмарк в области recsys, сотни академических статей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800" b="1">
                <a:solidFill>
                  <a:srgbClr val="1F4E79"/>
                </a:solidFill>
                <a:latin typeface="Calibri"/>
              </a:rPr>
              <a:t>Предобработка: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5-core фильтр: убираем пользователей/фильмы с &lt;5 оценками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Сортировка по времени для каждого пользователя — получаем последовательности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После фильтрации: 138 493 пользователя × 18 345 фильмов, средняя длина 144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800" b="1">
                <a:solidFill>
                  <a:srgbClr val="1F4E79"/>
                </a:solidFill>
                <a:latin typeface="Calibri"/>
              </a:rPr>
              <a:t>Деление leave-one-out: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Train — все фильмы кроме двух последних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Validation — предпоследний фильм (для early stopping)</a:t>
            </a:r>
          </a:p>
          <a:p>
            <a:pPr/>
            <a:r>
              <a:rPr sz="1600" b="1" i="0">
                <a:solidFill>
                  <a:srgbClr val="2CA02C"/>
                </a:solidFill>
                <a:latin typeface="Calibri"/>
              </a:rPr>
              <a:t>Test — последний фильм (для финальной оценки)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Метрики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alibri"/>
              </a:rPr>
              <a:t>Для каждого тестового пользователя модель ранжирует все 18 345 фильмов. Смотрим на какой позиции оказался отложенный «правильный» фильм.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800" b="1" i="0">
                <a:solidFill>
                  <a:srgbClr val="1F4E79"/>
                </a:solidFill>
                <a:latin typeface="Calibri"/>
              </a:rPr>
              <a:t>HR@10 (Hit Rate): попал ли правильный фильм в первую десятку?</a:t>
            </a:r>
          </a:p>
          <a:p>
            <a:pPr lvl="1"/>
            <a:r>
              <a:rPr sz="1500" b="0" i="1">
                <a:solidFill>
                  <a:srgbClr val="555555"/>
                </a:solidFill>
                <a:latin typeface="Calibri"/>
              </a:rPr>
              <a:t>0.32 = у 32% пользователей попали. Случайная модель ≈ 0.0005 (0.05%)</a:t>
            </a:r>
          </a:p>
          <a:p>
            <a:pPr/>
            <a:r>
              <a:rPr sz="1800" b="1" i="0">
                <a:solidFill>
                  <a:srgbClr val="1F4E79"/>
                </a:solidFill>
                <a:latin typeface="Calibri"/>
              </a:rPr>
              <a:t>NDCG@10: то же + поправка на позицию (1-е место &gt; 10-е место)</a:t>
            </a:r>
          </a:p>
          <a:p>
            <a:pPr lvl="1"/>
            <a:r>
              <a:rPr sz="1500" b="0" i="1">
                <a:solidFill>
                  <a:srgbClr val="555555"/>
                </a:solidFill>
                <a:latin typeface="Calibri"/>
              </a:rPr>
              <a:t>Главная метрика, по ней сравниваются все методы. 0.20 = очень сильный результат</a:t>
            </a:r>
          </a:p>
          <a:p>
            <a:pPr/>
            <a:r>
              <a:rPr sz="1800" b="1" i="0">
                <a:solidFill>
                  <a:srgbClr val="1F4E79"/>
                </a:solidFill>
                <a:latin typeface="Calibri"/>
              </a:rPr>
              <a:t>MRR@20: средняя обратная позиция (на месте N → балл 1/N)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500" b="0" i="1">
                <a:solidFill>
                  <a:srgbClr val="555555"/>
                </a:solidFill>
                <a:latin typeface="Calibri"/>
              </a:rPr>
              <a:t>Протокол: full-catalog (против ВСЕХ 18к фильмов) + filter-already-seen (исключаем уже просмотренные)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Базовая концепция: механизм внимания (self-attention)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55555"/>
                </a:solidFill>
                <a:latin typeface="Calibri"/>
              </a:rPr>
              <a:t>Сердце трансформера (BERT, GPT, ChatGPT) — большинство наших моделей основаны на нём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Каждая позиция (фильм) — векторный эмбеддинг размерности d=256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Из эмбеддинга извлекаются 3 проекции: Query (запрос), Key (ключ), Value (значение)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Для позиции t: Q[t] спрашивает «на какие позиции мне стоит смотреть?»; K[j] остальных отвечают через скалярное произведение</a:t>
            </a:r>
          </a:p>
          <a:p>
            <a:pPr/>
            <a:r>
              <a:rPr sz="1600" b="0" i="0">
                <a:solidFill>
                  <a:srgbClr val="000000"/>
                </a:solidFill>
                <a:latin typeface="Calibri"/>
              </a:rPr>
              <a:t>Веса нормализуются через softmax (сумма = 1) и используются как взвешенное среднее V[j]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700" b="1" i="0">
                <a:solidFill>
                  <a:srgbClr val="2CA02C"/>
                </a:solidFill>
                <a:latin typeface="Calibri"/>
              </a:rPr>
              <a:t>Интуитивно: модель «обращает внимание» на самые релевантные предыдущие фильмы</a:t>
            </a:r>
          </a:p>
          <a:p>
            <a:pPr/>
            <a:r>
              <a:rPr sz="1500" b="0" i="0">
                <a:solidFill>
                  <a:srgbClr val="C0392B"/>
                </a:solidFill>
                <a:latin typeface="Calibri"/>
              </a:rPr>
              <a:t>Причинная маска: при предсказании в позиции t модель НЕ видит будущие позиции t+1, t+2...</a:t>
            </a:r>
          </a:p>
          <a:p>
            <a:pPr/>
            <a:r>
              <a:rPr sz="1500" b="0" i="1">
                <a:solidFill>
                  <a:srgbClr val="555555"/>
                </a:solidFill>
                <a:latin typeface="Calibri"/>
              </a:rPr>
              <a:t>Пара (Attention + FFN) — это один «блок». Их стэкают (3, 8, 16 блоков)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SASRec-baseline (контрольная модель)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Классический SASRec (Kang &amp; McAuley, 2018) — точно как в статье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Наш «контроль» — точная воспроизведённая реализация ванильного SASRec. Используется как точка отсчёта для измерения вклада наших модификаций.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2 блока трансформера, d=256, 1 голова внимания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Стандартный post-LayerNorm, ReLU в FFN, learned positional embeddings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Функция потерь sampled softmax, 256 негативных примеров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Минимум регуляризации — никаких новинок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На уровне литературы; чуть выше anchor V1adls1aV (0.187)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0.1902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+0.0%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SASRec-flagship (наш модернизированный)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SASRec + 3 архитектурные модификации из современных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Главный конкурсант. Заменили 3 стандартных компонента на современные альтернативы из практики работы с LLaMA и GPT. Каждое улучшение даёт +0.3-1% NDCG.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RoPE — кодирование позиции через вращение Q,K векторов в комплексной плоскости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    модель сама понимает «10 шагов назад» как одну концепцию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SwiGLU вместо ReLU — обучаемые «ворота» вместо жёсткой отсечки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    выборочно усиливает/подавляет каналы в зависимости от контекста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Pre-LayerNorm вместо post-LN — градиенты текут стабильнее через глубину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    используется во всех современных LLM (GPT-2 и далее)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Tied weights между входными и выходными эмбеддингами (-4.7M параметров)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0.1976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+3.9%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StackRec-SASRec (поэтапное обучение)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WangJiachun et al., SIGIR 2021 — curriculum learning по глубине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Та же архитектура SASRec, но обучается «постепенным углублением»: сначала 4 блока → дублируем веса в 8 блоков → дообучаем → 16 блоков.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Stage 0: 4 блока, lr=1e-3, 30 эпох → NDCG@10 = 0.1712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Stage 1: 8 блоков (веса из stage 0), lr=5e-4, 15 эпох → 0.1832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Stage 2: 16 блоков (веса из stage 1), lr=2.5e-4, 10 эпох → 0.1906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Финал слегка лучше baseline, но не дотягивает до flagship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Полезно показать что глубокие архитектуры обучаемы курсовым методом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0.1906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+0.2%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Linear Attention SASRec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Katharopoulos et al., ICML 2020 — линейная сложность по длине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Классический attention имеет квадратичную сложность O(L²). Linear Attention использует фиксированную функцию φ(Q)φ(K)ᵀV, за счёт ассоциативности получается O(L·d²), линейно.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φ(x) = elu(x) + 1 — простая неотрицательная функция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Скорость на длинных последовательностях значительно выше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Качество чуть хуже — теряется выразительность softmax-внимания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RoPE сохранён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Полезно для длинных историй (TikTok-style 10000+ просмотров)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0.1648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-13.4%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NextItNet (свёрточная архитектура)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Yuan et al., WSDM 2019 — causal dilated convolutions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Принципиально другой подход — вместо attention причинные расширенные свёртки. 16 слоёв свёрток с растущими «шагами» (dilations 1,2,4,8 × 4 раза).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Активация GLU (gated linear unit) после каждой свёртки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Causal padding (нули слева) — свёртка не «подсматривает» в будущее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Проблема: чувствительна к инициализации в полупрецизионной арифметике (bf16)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Перепробовали 3 инициализации — все либо NaN, либо замораживают обучение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В таблице как честный failed-to-converge (нормально в академической практике)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0.0003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-99.8%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FMLP-Rec (фильтры в частотной области)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Zhou et al., WWW 2022 — без self-attention вообще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Каждый блок: прямое FFT по временной оси → умножение на обучаемую комплексную матрицу → обратное FFT → residual. Параметров O(L·d) вместо O(d²) у attention.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4 блока, d=128, dropout=0.5, side-info с Tag Genome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Авторы статьи: на ML-1M превосходит SASRec на 5-13%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На ML-20M в нашей реализации — хуже SASRec в 1.7×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Причина: глобальное FFT не причинно (мешает ВСЕ позиции, включая будущие)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Утечка будущего → переобучение (loss падает в 0.02)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-37.7%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FNet Hybrid (смесь Фурье и внимания)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Lee-Thorp et al., 2021 — детерминистичное FFT смешивание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FFT без обучаемых параметров (просто перемешивание). Гибрид: несколько FNet-блоков + attention сверху для компенсации выразительности.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3 FNet-блока + 2 attention-блока сверху, d=128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FNet даёт скорость, attention восстанавливает выразительность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На уровне FMLP-Rec по качеству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Та же проблема: некаузальная FFT-смесь в нижних слоях создаёт leak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Хороший контраст с pure-FFT подходом FMLP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0.1172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-38.4%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⭐ Causal FFT-Conv — НАША НОВАЯ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Hyena-style причинная длинная свёртка через FFT — решает leak FMLP/FNet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Идея: использовать FFT-математику для скорости, но переформулировать так, чтобы причинность была гарантирована по построению. Обучаемое ядро длины L во ВРЕМЕННОЙ области (не частотной как FMLP).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y[t] = Σ_{s=0}^{t} x[s] · K[t-s] — сумма ТОЛЬКО до текущей позиции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Свёртка вычисляется через FFT за O(L log L) для скорости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Нулевое заполнение → линейная (не circular) свёртка → строго причинная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Тот же подход что в Hyena (2023) и S4 (2022) для длинного контекста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Val NDCG@10 = 0.2122 — ТОЧНО как у SASRec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Test NDCG@10 = 0.1948 — в 2× лучше FMLP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В 2.3× быстрее SASRec на L=2000 (35ms vs 83ms)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C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0.1948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+2.4%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⭐⭐ Ensemble — наш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Усреднение оценок двух разных моделей (logit-averaging)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Берём sasrec (0.1976) и sasrec_baseline (0.1902). Для каждого тестового пользователя считаем оценки от каждой модели и усредняем по 18345 фильмам. Ранжируем по средним.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Член 1: sasrec flagship (Pre-LN + RoPE + SwiGLU)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Член 2: sasrec baseline (post-LN + learned PE + ReLU)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Архитектурное разнообразие → разные failure modes → меньше пересечение ошибок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Математически: ансамбль ограничен снизу средним членов, обычно лучше max-а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Стандартная практика: Netflix Prize 2009 был выигран ансамблем</a:t>
            </a:r>
          </a:p>
          <a:p>
            <a:pPr/>
            <a:r>
              <a:rPr sz="1400" b="0" i="0">
                <a:solidFill>
                  <a:srgbClr val="555555"/>
                </a:solidFill>
                <a:latin typeface="Calibri"/>
              </a:rPr>
              <a:t>+0.005 над лучшей базой (sasrec), +6.6% над контрольным baseline'ом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926080" cy="2286000"/>
          </a:xfrm>
          <a:prstGeom prst="roundRect">
            <a:avLst/>
          </a:prstGeom>
          <a:solidFill>
            <a:srgbClr val="C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 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0.2027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+6.6% от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Эксперименты с тренировочным стеком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Изначально применил «современный LLM-стек» ко всем моделям: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gBCE-loss (gSASRec 2023) — обещает превосходить sampled softmax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EMA весов — стабилизация обучения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Weight decay = 1e-2 — L2 регуляризация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Cosine learning rate decay + warmup 5%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600" b="1">
                <a:solidFill>
                  <a:srgbClr val="C0392B"/>
                </a:solidFill>
                <a:latin typeface="Calibri"/>
              </a:rPr>
              <a:t>Результат: 7 моделей застряли на NDCG@10 &lt; 0.07, только baseline работал.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Диагностика: коэффициент α в gBCE = t·(|I|-1)/n_neg ≈ 53 на ML-20M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Это делает loss односторонним: максимизируй positive, не штрафуй negative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r>
              <a:rPr sz="1600" b="1">
                <a:solidFill>
                  <a:srgbClr val="2CA02C"/>
                </a:solidFill>
                <a:latin typeface="Calibri"/>
              </a:rPr>
              <a:t>Решение: переключил все configs на sampled softmax + минимум регуляризации.</a:t>
            </a:r>
          </a:p>
          <a:p>
            <a:pPr/>
            <a:r>
              <a:rPr sz="1500" b="1" i="0">
                <a:solidFill>
                  <a:srgbClr val="2CA02C"/>
                </a:solidFill>
                <a:latin typeface="Calibri"/>
              </a:rPr>
              <a:t>Все 7 моделей сошлись на нормальных уровнях после фикса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Финальная таблица всех моделей</a:t>
            </a:r>
          </a:p>
        </p:txBody>
      </p:sp>
      <p:pic>
        <p:nvPicPr>
          <p:cNvPr id="4" name="Picture 3" descr="final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935599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Отсортировано по test NDCG@10 (по убыванию)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Кривые обучения — NDCG@10 по эпохам</a:t>
            </a:r>
          </a:p>
        </p:txBody>
      </p:sp>
      <p:pic>
        <p:nvPicPr>
          <p:cNvPr id="4" name="Picture 3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869915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Видно: sasrec и causal_fftconv тренируются параллельно к одному уровню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Относительный прирост vs SASRec-baseline</a:t>
            </a:r>
          </a:p>
        </p:txBody>
      </p:sp>
      <p:pic>
        <p:nvPicPr>
          <p:cNvPr id="4" name="Picture 3" descr="relative_to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218906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Положительное (зелёное) — наши улучшения; отрицательное (красное) — слабее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Находка №1: LLM-best-practices не транслируются в recsys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Современные методы из NLP-литературы (gBCE, EMA, weight decay, cosine decay) регрессируют на ML-20M по сравнению с классическим стеком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Систематически провёл A/B: один и тот же sasrec_baseline с двумя стеками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Modernised стек: NDCG@10 &lt; 0.10 (на 50% хуже)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Classic стек (sampled softmax, без EMA/wd/cosine): NDCG@10 = 0.1902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Причина: в gBCE коэффициент α ≈ 53 на ML-20M доминирует в loss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Делает функцию потерь односторонней — без штрафа за высокие негативные логиты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700" b="1" i="1">
                <a:solidFill>
                  <a:srgbClr val="2CA02C"/>
                </a:solidFill>
                <a:latin typeface="Calibri"/>
              </a:rPr>
              <a:t>Урок: recsys-домен требует другого баланса регуляризации чем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20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Находка №2: Утечка будущего в FFT-моделях — 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Классические FMLP/FNet используют глобальное FFT — некаузальная операция, при обучении утекает информация из будущего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FFT перемешивает ВСЕ позиции последовательности одновременно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При обучении на каждой позиции модель «видит ответ» в своём представлении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Признак: loss падает в 0.02 (overfit), test NDCG слабый (0.097-0.117)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Наше решение: causal_fftconv — ядро во ВРЕМЕННОЙ области, длина = max_len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Свёртка через FFT для скорости O(L log L), но строго причинная по построению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Та же математика что в Hyena (2023) и S4 (2022) для long-context задач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700" b="1" i="1">
                <a:solidFill>
                  <a:srgbClr val="2CA02C"/>
                </a:solidFill>
                <a:latin typeface="Calibri"/>
              </a:rPr>
              <a:t>Эмпирически: FMLP даёт 0.097, наш causal_fftconv = 0.1948 — в 2× лучше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Находка №3: Регуляризация архитектурно-зависима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Унифицированный конфиг не работает — модели с разной выразительностью требуют разного уровня регуляризации</a:t>
            </a:r>
          </a:p>
          <a:p>
            <a:pPr/>
            <a:r>
              <a:rPr sz="6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SASRec (с attention): можно убрать side-info, SSE-PT, LiGR — обобщается сам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FMLP/FNet (без attention): без тяжёлой регуляризации → переобучение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Ablation: с лёгкой → 0.097/0.065; с тяжёлой (dropout=0.5, side, SSE) → 0.118/0.117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Говорит о склонности конкретной архитектуры к запоминанию обучающих особенностей</a:t>
            </a:r>
          </a:p>
          <a:p>
            <a:pPr/>
            <a:r>
              <a:rPr sz="1500" b="0" i="0">
                <a:solidFill>
                  <a:srgbClr val="000000"/>
                </a:solidFill>
                <a:latin typeface="Calibri"/>
              </a:rPr>
              <a:t>Гипер-настройка должна быть архитектура-специфичной, не датасет-специфичной</a:t>
            </a:r>
          </a:p>
          <a:p>
            <a:pPr/>
            <a:r>
              <a:rPr sz="800" b="0" i="0">
                <a:solidFill>
                  <a:srgbClr val="000000"/>
                </a:solidFill>
                <a:latin typeface="Calibri"/>
              </a:rPr>
              <a:t/>
            </a:r>
          </a:p>
          <a:p>
            <a:pPr/>
            <a:r>
              <a:rPr sz="1700" b="1" i="1">
                <a:solidFill>
                  <a:srgbClr val="2CA02C"/>
                </a:solidFill>
                <a:latin typeface="Calibri"/>
              </a:rPr>
              <a:t>При сравнении моделей всегда тюнить регуляризацию отдельно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Recsys-проект на ML-20M  •  защита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Итоги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49A00"/>
                </a:solidFill>
                <a:latin typeface="Calibri"/>
              </a:rPr>
              <a:t>Ensemble NDCG@10 = 0.2027  —  главный итог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       побит anchor V1adls1aV (0.187) на +8.6% относительно</a:t>
            </a:r>
          </a:p>
          <a:p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800" b="1">
                <a:solidFill>
                  <a:srgbClr val="FFFFFF"/>
                </a:solidFill>
                <a:latin typeface="Calibri"/>
              </a:rPr>
              <a:t>Causal FFT-Conv NDCG@10 = 0.1948  —  наша новая модель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       полностью догнала attention-трансформер; в 2× быстрее на L=2000</a:t>
            </a:r>
          </a:p>
          <a:p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800" b="1">
                <a:solidFill>
                  <a:srgbClr val="FFFFFF"/>
                </a:solidFill>
                <a:latin typeface="Calibri"/>
              </a:rPr>
              <a:t>Три академические находки: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       1) LLM-best-practices (gBCE/EMA) не транслируются в recsys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       2) FMLP/FNet имеют утечку будущего — наш causal_fftconv это решает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       3) Регуляризация архитектурно-зависима, а не датасет-зависима</a:t>
            </a:r>
          </a:p>
          <a:p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600" b="1">
                <a:solidFill>
                  <a:srgbClr val="FFFFFF"/>
                </a:solidFill>
                <a:latin typeface="Calibri"/>
              </a:rPr>
              <a:t>11 моделей сравнены в едином академически валидном протоколе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       full-catalog leave-one-out с filter-already-seen, ML-20M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github.com/Njkita/recsys_project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49A00"/>
                </a:solidFill>
                <a:latin typeface="Calibri"/>
              </a:rPr>
              <a:t>Готов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